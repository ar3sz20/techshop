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329569-3DE0-4FE2-A008-5EFAB7A4FF5E}" v="22" dt="2026-04-28T07:01:37.9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20D646-4BEE-4250-A66C-4BB9EE97677A}" type="datetimeFigureOut">
              <a:t>4/27/2026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63089-A3E2-4E4F-A3A7-AD7E38CEEF86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053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Nyitás: röviden elmondjuk, hogy a TechShop egy vizsgaremekként készített elektronikai webshop. Kiemelés: reszponzív vásárlói felület, Laravel backend, REST API és Windows Forms admin kliens.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Itt érdemes az elvárásokat egyenként összekötni a projekttel: valós probléma, adatkezelés, REST, több kliens, csapatmunka, tesztelés. Röviden, pontszerűen.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projekt motivációja: a TechShop a kisebb webshopoknál tapasztalt problémákra ad választ: mobilbarát felület, átlátható struktúra, gyors kosár és rendelés, valamint biztonságos alap.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Ezen a dián a funkciókat nem technológia szerint, hanem felhasználói szerepkör szerint érdemes magyarázni: vásárló, admin, külső kliens/API.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komponensek: webes felület a vásárlóknak, API réteg a külső klienseknek és az admin appnak, Eloquent modellek és adatbázis. A biztonsági komponenseket külön említsük: Sanctum, Policy, Form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adatmodellnél a fő táblák: users, products, orders, newsletters. A rendelési folyamat legfontosabb része a készletellenőrzés és a készlet csökkentése.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stack felsorolásánál ki kell emelni, hogy minden technológia funkcióhoz kötődik: Laravel a backendhez, Tailwind és Vite a frontendhez, Sanctum az API auth-hoz, WinForms az admin klienshez, PHPUnit a minőségbiztosításhoz.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demóban ezt a folyamatot lehet végigmutatni: keresés vagy szűrés, termékoldal, kosár, rendelés, rendelési előzmények.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Fontos: a KKK több kliens oldali komponensre vonatkozó elvárását a reszponzív webes vásárlói felület és a natív Windows Forms admin kliens együtt teljesíti.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tesztelésnél őszintén érdemes elmondani: a v1.1 futtatásban minden teszt zöld volt, a v1.2 sémaváltás után az OrderTestek frissítése karbantartási feladatként szerepel.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Saját rész bemutatása Danielnek: integráció a kontrollerek és route-ok között, design system refaktor, Material Icons, hibajelzések javítása, automatikus tesztek és dokumentáció. Ezt angolul is össze kell foglalni.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Záró slide: mondd el angolul az abstractot. Ha csapatban mutattok be, mindenki kapjon saját rövid magyar és angol részt. A végén lehet kérdezni az architektúráról, adatmodellről és tesztekről.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cinematic_studio_rendered_scene_3d_digit_batch_1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0B0B1A">
              <a:alpha val="96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" y="685800"/>
            <a:ext cx="3611880" cy="320040"/>
          </a:xfrm>
          <a:prstGeom prst="roundRect">
            <a:avLst>
              <a:gd name="adj" fmla="val 22857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58952" y="758952"/>
            <a:ext cx="3465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FFFFFF"/>
                </a:solidFill>
              </a:rPr>
              <a:t>Szoftverfejlesztő és -tesztelő vizsgaremek</a:t>
            </a:r>
            <a:endParaRPr lang="en-US" sz="880" dirty="0"/>
          </a:p>
        </p:txBody>
      </p:sp>
      <p:sp>
        <p:nvSpPr>
          <p:cNvPr id="6" name="Text 3"/>
          <p:cNvSpPr/>
          <p:nvPr/>
        </p:nvSpPr>
        <p:spPr>
          <a:xfrm>
            <a:off x="658368" y="13258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TechShop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713232" y="2148840"/>
            <a:ext cx="4800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DD6FE"/>
                </a:solidFill>
              </a:rPr>
              <a:t>Laravel alapú elektronikai webáruház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DDD6FE"/>
                </a:solidFill>
              </a:rPr>
              <a:t>reszponzív webfelülettel és asztali admin klienssel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31520" y="3401568"/>
            <a:ext cx="2468880" cy="0"/>
          </a:xfrm>
          <a:prstGeom prst="line">
            <a:avLst/>
          </a:prstGeom>
          <a:noFill/>
          <a:ln w="38100">
            <a:solidFill>
              <a:srgbClr val="FBBF2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5797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C7C4DA"/>
                </a:solidFill>
              </a:rPr>
              <a:t>Harkó Dávid · Zakar Levente Gusztáv · Iancu‑Tóth Daniel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1/12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KKK elvárások → TechShop megfeleltetés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A prezentáció a vizsgaremek fő értékelési szempontjaira épül.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627632"/>
            <a:ext cx="200253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Életszerű probléma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→ elektronikai webshop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063240" y="15087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36392" y="1627632"/>
            <a:ext cx="213969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Adattárolás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→ termékek, rendelések, felhasználók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577840" y="15087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50992" y="1627632"/>
            <a:ext cx="213969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REST architektúra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→ /api végpontok + Sanctum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92440" y="1508760"/>
            <a:ext cx="2423160" cy="960120"/>
          </a:xfrm>
          <a:prstGeom prst="roundRect">
            <a:avLst>
              <a:gd name="adj" fmla="val 7619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165592" y="1627632"/>
            <a:ext cx="22768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Asztali + mobil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→ reszponzív web + WinForms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86200" y="3063240"/>
            <a:ext cx="2560320" cy="960120"/>
          </a:xfrm>
          <a:prstGeom prst="roundRect">
            <a:avLst>
              <a:gd name="adj" fmla="val 7619"/>
            </a:avLst>
          </a:prstGeom>
          <a:solidFill>
            <a:srgbClr val="17152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959352" y="3182112"/>
            <a:ext cx="241401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70" b="1" dirty="0">
                <a:solidFill>
                  <a:srgbClr val="FFFFFF"/>
                </a:solidFill>
              </a:rPr>
              <a:t>Csapatmunka</a:t>
            </a:r>
            <a:endParaRPr lang="en-US" sz="1070" dirty="0"/>
          </a:p>
          <a:p>
            <a:pPr marL="0" indent="0" algn="ctr">
              <a:buNone/>
            </a:pPr>
            <a:r>
              <a:rPr lang="en-US" sz="1070" b="1" dirty="0">
                <a:solidFill>
                  <a:srgbClr val="FFFFFF"/>
                </a:solidFill>
              </a:rPr>
              <a:t>→ Git/GitHub + feladatrészek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812280" y="306324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17152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85432" y="3182112"/>
            <a:ext cx="259689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70" b="1" dirty="0">
                <a:solidFill>
                  <a:srgbClr val="FFFFFF"/>
                </a:solidFill>
              </a:rPr>
              <a:t>Tesztelés és dokumentáció</a:t>
            </a:r>
            <a:endParaRPr lang="en-US" sz="1070" dirty="0"/>
          </a:p>
          <a:p>
            <a:pPr marL="0" indent="0" algn="ctr">
              <a:buNone/>
            </a:pPr>
            <a:r>
              <a:rPr lang="en-US" sz="1070" b="1" dirty="0">
                <a:solidFill>
                  <a:srgbClr val="FFFFFF"/>
                </a:solidFill>
              </a:rPr>
              <a:t>→ PHPUnit + műszaki doksi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2834640" y="1984248"/>
            <a:ext cx="22860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49240" y="1984248"/>
            <a:ext cx="22860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63840" y="1984248"/>
            <a:ext cx="22860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166360" y="2514600"/>
            <a:ext cx="0" cy="54864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720840" y="2514600"/>
            <a:ext cx="1371600" cy="54864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32688" y="5074920"/>
            <a:ext cx="99212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A deck célja nem a teljes dokumentáció felolvasása, hanem annak bemutatása, hogy a projekt miért komplex, használható és vizsgakész.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2/12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cinematic_studio_rendered_scene_3d_digit_batch_1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52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Probléma és célkitűzés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Kis webshopok tipikus hibái: gyenge mobilélmény, nehéz navigáció, lassú vásárlási folyamat.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417320"/>
            <a:ext cx="5074920" cy="4480560"/>
          </a:xfrm>
          <a:prstGeom prst="rect">
            <a:avLst/>
          </a:prstGeom>
          <a:solidFill>
            <a:srgbClr val="0B0B1A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737360"/>
            <a:ext cx="4434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BBF24"/>
                </a:solidFill>
              </a:rPr>
              <a:t>Kiinduló probléma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167128"/>
            <a:ext cx="4434840" cy="11704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320" dirty="0">
                <a:solidFill>
                  <a:srgbClr val="C7C4DA"/>
                </a:solidFill>
              </a:rPr>
              <a:t>• nem reszponzív, nehezen használható felületek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átláthatatlan terméklista és kevés szűrés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széttöredezett kosár- és rendelési folyamat</a:t>
            </a:r>
            <a:endParaRPr lang="en-US" sz="132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434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TechShop célja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4133088"/>
            <a:ext cx="4434840" cy="11704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320" dirty="0">
                <a:solidFill>
                  <a:srgbClr val="C7C4DA"/>
                </a:solidFill>
              </a:rPr>
              <a:t>• modern, magyar nyelvű elektronikai webáruház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egyszerű termékböngészés és gyors rendelés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biztonságos, bővíthető Laravel alap</a:t>
            </a:r>
            <a:endParaRPr lang="en-US" sz="1320" dirty="0"/>
          </a:p>
        </p:txBody>
      </p:sp>
      <p:sp>
        <p:nvSpPr>
          <p:cNvPr id="12" name="Shape 9"/>
          <p:cNvSpPr/>
          <p:nvPr/>
        </p:nvSpPr>
        <p:spPr>
          <a:xfrm>
            <a:off x="6492240" y="1828800"/>
            <a:ext cx="731520" cy="731520"/>
          </a:xfrm>
          <a:prstGeom prst="arc">
            <a:avLst/>
          </a:prstGeom>
          <a:solidFill>
            <a:srgbClr val="FBBF24"/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92240" y="19842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B1A"/>
                </a:solidFill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360920" y="1938528"/>
            <a:ext cx="201168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Átlátható vásárlás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926080"/>
            <a:ext cx="731520" cy="731520"/>
          </a:xfrm>
          <a:prstGeom prst="arc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0" y="3081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B1A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360920" y="3035808"/>
            <a:ext cx="201168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Reszponzív UI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4023360"/>
            <a:ext cx="731520" cy="731520"/>
          </a:xfrm>
          <a:prstGeom prst="arc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417880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B1A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7360920" y="4133088"/>
            <a:ext cx="201168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Fejleszthető alap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3/12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Fő funkciók szerepkörönként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A rendszer vásárlói, adminisztrátori és külső kliens használatra is felkészült.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2880360" cy="4069080"/>
          </a:xfrm>
          <a:prstGeom prst="roundRect">
            <a:avLst>
              <a:gd name="adj" fmla="val 3810"/>
            </a:avLst>
          </a:prstGeom>
          <a:solidFill>
            <a:srgbClr val="100F22">
              <a:alpha val="95000"/>
            </a:srgbClr>
          </a:solidFill>
          <a:ln w="13970">
            <a:solidFill>
              <a:srgbClr val="4C3D7E"/>
            </a:solidFill>
            <a:prstDash val="solid"/>
          </a:ln>
          <a:effectLst>
            <a:outerShdw blurRad="25400" dist="127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1673352"/>
            <a:ext cx="2551176" cy="384048"/>
          </a:xfrm>
          <a:prstGeom prst="roundRect">
            <a:avLst>
              <a:gd name="adj" fmla="val 19048"/>
            </a:avLst>
          </a:prstGeom>
          <a:solidFill>
            <a:srgbClr val="FBBF24">
              <a:alpha val="90000"/>
            </a:srgbClr>
          </a:solidFill>
          <a:ln w="12700">
            <a:solidFill>
              <a:srgbClr val="FBBF24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75564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0B1A"/>
                </a:solidFill>
              </a:rPr>
              <a:t>Vásárló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60120" y="2286000"/>
            <a:ext cx="2331720" cy="3063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DDD6FE"/>
                </a:solidFill>
              </a:rPr>
              <a:t>Termékböngészés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DDD6FE"/>
                </a:solidFill>
              </a:rPr>
              <a:t>Kategória, típus és ár szerinti szűrés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DDD6FE"/>
                </a:solidFill>
              </a:rPr>
              <a:t>Kosárkezelés készletellenőrzéssel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DDD6FE"/>
                </a:solidFill>
              </a:rPr>
              <a:t>Rendelés leadása és rendelési előzmények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590288" y="1508760"/>
            <a:ext cx="2880360" cy="4069080"/>
          </a:xfrm>
          <a:prstGeom prst="roundRect">
            <a:avLst>
              <a:gd name="adj" fmla="val 3810"/>
            </a:avLst>
          </a:prstGeom>
          <a:solidFill>
            <a:srgbClr val="100F22">
              <a:alpha val="95000"/>
            </a:srgbClr>
          </a:solidFill>
          <a:ln w="13970">
            <a:solidFill>
              <a:srgbClr val="4C3D7E"/>
            </a:solidFill>
            <a:prstDash val="solid"/>
          </a:ln>
          <a:effectLst>
            <a:outerShdw blurRad="25400" dist="127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73352"/>
            <a:ext cx="2551176" cy="384048"/>
          </a:xfrm>
          <a:prstGeom prst="roundRect">
            <a:avLst>
              <a:gd name="adj" fmla="val 19048"/>
            </a:avLst>
          </a:prstGeom>
          <a:solidFill>
            <a:srgbClr val="A78BFA">
              <a:alpha val="9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82896" y="175564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0B1A"/>
                </a:solidFill>
              </a:rPr>
              <a:t>Admin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64608" y="2286000"/>
            <a:ext cx="2331720" cy="3063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DDD6FE"/>
                </a:solidFill>
              </a:rPr>
              <a:t>Termék létrehozás és szerkesztés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DDD6FE"/>
                </a:solidFill>
              </a:rPr>
              <a:t>Képfeltöltés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DDD6FE"/>
                </a:solidFill>
              </a:rPr>
              <a:t>Soft delete, visszaállítás</a:t>
            </a:r>
            <a:endParaRPr lang="en-US" sz="1030" dirty="0"/>
          </a:p>
          <a:p>
            <a:pPr marL="0" indent="0">
              <a:buNone/>
            </a:pPr>
            <a:r>
              <a:rPr lang="en-US" sz="1030" dirty="0">
                <a:solidFill>
                  <a:srgbClr val="DDD6FE"/>
                </a:solidFill>
              </a:rPr>
              <a:t>Bulk import asztali kliensből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8485632" y="1508760"/>
            <a:ext cx="2880360" cy="4069080"/>
          </a:xfrm>
          <a:prstGeom prst="roundRect">
            <a:avLst>
              <a:gd name="adj" fmla="val 3810"/>
            </a:avLst>
          </a:prstGeom>
          <a:solidFill>
            <a:srgbClr val="100F22">
              <a:alpha val="95000"/>
            </a:srgbClr>
          </a:solidFill>
          <a:ln w="13970">
            <a:solidFill>
              <a:srgbClr val="4C3D7E"/>
            </a:solidFill>
            <a:prstDash val="solid"/>
          </a:ln>
          <a:effectLst>
            <a:outerShdw blurRad="25400" dist="127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50224" y="1673352"/>
            <a:ext cx="2551176" cy="384048"/>
          </a:xfrm>
          <a:prstGeom prst="roundRect">
            <a:avLst>
              <a:gd name="adj" fmla="val 19048"/>
            </a:avLst>
          </a:prstGeom>
          <a:solidFill>
            <a:srgbClr val="22D3EE">
              <a:alpha val="9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75564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0B1A"/>
                </a:solidFill>
              </a:rPr>
              <a:t>REST / külső kliens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759952" y="2286000"/>
            <a:ext cx="2331720" cy="3063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DDD6FE"/>
                </a:solidFill>
              </a:rPr>
              <a:t>JSON API </a:t>
            </a:r>
            <a:r>
              <a:rPr lang="en-US" sz="1000" dirty="0" err="1">
                <a:solidFill>
                  <a:srgbClr val="DDD6FE"/>
                </a:solidFill>
              </a:rPr>
              <a:t>termékekhez</a:t>
            </a:r>
            <a:r>
              <a:rPr lang="en-US" sz="1000" dirty="0">
                <a:solidFill>
                  <a:srgbClr val="DDD6FE"/>
                </a:solidFill>
              </a:rPr>
              <a:t> </a:t>
            </a:r>
            <a:r>
              <a:rPr lang="en-US" sz="1000" dirty="0" err="1">
                <a:solidFill>
                  <a:srgbClr val="DDD6FE"/>
                </a:solidFill>
              </a:rPr>
              <a:t>és</a:t>
            </a:r>
            <a:r>
              <a:rPr lang="en-US" sz="1000" dirty="0">
                <a:solidFill>
                  <a:srgbClr val="DDD6FE"/>
                </a:solidFill>
              </a:rPr>
              <a:t> </a:t>
            </a:r>
            <a:r>
              <a:rPr lang="en-US" sz="1000" dirty="0" err="1">
                <a:solidFill>
                  <a:srgbClr val="DDD6FE"/>
                </a:solidFill>
              </a:rPr>
              <a:t>rendelésekhez</a:t>
            </a:r>
            <a:endParaRPr lang="en-US" sz="1000" dirty="0" err="1"/>
          </a:p>
          <a:p>
            <a:pPr marL="0" indent="0">
              <a:buNone/>
            </a:pPr>
            <a:r>
              <a:rPr lang="en-US" sz="1000" dirty="0">
                <a:solidFill>
                  <a:srgbClr val="DDD6FE"/>
                </a:solidFill>
              </a:rPr>
              <a:t>Sanctum </a:t>
            </a:r>
            <a:r>
              <a:rPr lang="en-US" sz="1000" dirty="0" err="1">
                <a:solidFill>
                  <a:srgbClr val="DDD6FE"/>
                </a:solidFill>
              </a:rPr>
              <a:t>tokenes</a:t>
            </a:r>
            <a:r>
              <a:rPr lang="en-US" sz="1000" dirty="0">
                <a:solidFill>
                  <a:srgbClr val="DDD6FE"/>
                </a:solidFill>
              </a:rPr>
              <a:t> </a:t>
            </a:r>
            <a:r>
              <a:rPr lang="en-US" sz="1000" dirty="0" err="1">
                <a:solidFill>
                  <a:srgbClr val="DDD6FE"/>
                </a:solidFill>
              </a:rPr>
              <a:t>hitelesítés</a:t>
            </a:r>
            <a:endParaRPr lang="en-US" sz="1000" dirty="0" err="1"/>
          </a:p>
          <a:p>
            <a:pPr marL="0" indent="0">
              <a:buNone/>
            </a:pPr>
            <a:r>
              <a:rPr lang="en-US" sz="1000" dirty="0">
                <a:solidFill>
                  <a:srgbClr val="DDD6FE"/>
                </a:solidFill>
              </a:rPr>
              <a:t>WinForms admin </a:t>
            </a:r>
            <a:r>
              <a:rPr lang="en-US" sz="1000" dirty="0" err="1">
                <a:solidFill>
                  <a:srgbClr val="DDD6FE"/>
                </a:solidFill>
              </a:rPr>
              <a:t>kliens</a:t>
            </a:r>
            <a:r>
              <a:rPr lang="en-US" sz="1000" dirty="0">
                <a:solidFill>
                  <a:srgbClr val="DDD6FE"/>
                </a:solidFill>
              </a:rPr>
              <a:t> </a:t>
            </a:r>
            <a:r>
              <a:rPr lang="en-US" sz="1000" dirty="0" err="1">
                <a:solidFill>
                  <a:srgbClr val="DDD6FE"/>
                </a:solidFill>
              </a:rPr>
              <a:t>kommunikáció</a:t>
            </a:r>
            <a:endParaRPr lang="en-US" sz="1000" dirty="0" err="1"/>
          </a:p>
        </p:txBody>
      </p:sp>
      <p:sp>
        <p:nvSpPr>
          <p:cNvPr id="18" name="Text 15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4/12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polished_isometric_3d_tech_illustration_on_a_d_batch_2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80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Architektúra áttekintés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MVC Laravel backend, webes réteg, REST API és adatbázis-kapcsolat.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40280" y="2743200"/>
            <a:ext cx="82296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681728" y="2743200"/>
            <a:ext cx="804672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086600" y="2743200"/>
            <a:ext cx="82296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9491472" y="2743200"/>
            <a:ext cx="704088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217920" y="3310128"/>
            <a:ext cx="0" cy="1124712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31520" y="2240280"/>
            <a:ext cx="150876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2359152"/>
            <a:ext cx="136245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Böngésző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Blade + Tailwind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063240" y="2240280"/>
            <a:ext cx="1627632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136392" y="2359152"/>
            <a:ext cx="1481328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routes/web.php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Controller-ek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0" y="2240280"/>
            <a:ext cx="160020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559552" y="2359152"/>
            <a:ext cx="145389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routes/api.php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REST JSON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09560" y="2240280"/>
            <a:ext cx="1572768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982712" y="2359152"/>
            <a:ext cx="1426464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Eloquent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Modellek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195560" y="2240280"/>
            <a:ext cx="141732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0268712" y="2359152"/>
            <a:ext cx="127101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MySQL / SQLite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Adatbázis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443484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17152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553712" y="4553712"/>
            <a:ext cx="332841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FFFFFF"/>
                </a:solidFill>
              </a:rPr>
              <a:t>Session kosár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b="1" dirty="0">
                <a:solidFill>
                  <a:srgbClr val="FFFFFF"/>
                </a:solidFill>
              </a:rPr>
              <a:t>ProductPolicy · Sanctum · Form Request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914400" y="5760720"/>
            <a:ext cx="10332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 kosár session-ben él, a rendelések és termékek perzisztens adatbázisban. Az admin műveleteket Policy védi.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5/12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Adatmodell és rendelési folyamat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A rendszer a termékeket, felhasználókat, rendeléseket és hírlevél-feliratkozásokat kezeli.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87168" y="2423160"/>
            <a:ext cx="1399032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715000" y="2423160"/>
            <a:ext cx="1399032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760720" y="3977640"/>
            <a:ext cx="1353312" cy="0"/>
          </a:xfrm>
          <a:prstGeom prst="line">
            <a:avLst/>
          </a:prstGeom>
          <a:noFill/>
          <a:ln w="22860">
            <a:solidFill>
              <a:srgbClr val="A78BF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22960" y="1920240"/>
            <a:ext cx="1664208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2039112"/>
            <a:ext cx="1517904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USERS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name · email · role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86200" y="19202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59352" y="2039112"/>
            <a:ext cx="168249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ORDERS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address · total_price · status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14032" y="192024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87184" y="2039112"/>
            <a:ext cx="177393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PRODUCTS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name · price · quantity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86200" y="349300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7152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59352" y="3611880"/>
            <a:ext cx="168249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NEWSLETTERS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email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49103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BBF24"/>
                </a:solidFill>
              </a:rPr>
              <a:t>Vásárlás adatfolyama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8680" y="5394960"/>
            <a:ext cx="1024128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DDD6FE"/>
                </a:solidFill>
              </a:rPr>
              <a:t>Termék kiválasztása → kosárba helyezés → készletellenőrzés → rendelés mentése → készlet csökkentése → rendelési előzmény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6/12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Technológiai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A stack a modern Laravel ökoszisztémára és tesztelhető fejlesztési folyamatra épül.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211B3D"/>
          </a:solidFill>
          <a:ln w="10160">
            <a:solidFill>
              <a:srgbClr val="A78BFA"/>
            </a:solidFill>
            <a:prstDash val="solid"/>
          </a:ln>
          <a:effectLst>
            <a:outerShdw blurRad="15240" dist="1016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23544" y="173736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</a:rPr>
              <a:t>PHP 8.2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41832" y="219456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7C4DA"/>
                </a:solidFill>
              </a:rPr>
              <a:t>backend nyelv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20440" y="150876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17152D"/>
          </a:solidFill>
          <a:ln w="10160">
            <a:solidFill>
              <a:srgbClr val="A78BFA"/>
            </a:solidFill>
            <a:prstDash val="solid"/>
          </a:ln>
          <a:effectLst>
            <a:outerShdw blurRad="15240" dist="1016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173736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</a:rPr>
              <a:t>Laravel 12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685032" y="219456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7C4DA"/>
                </a:solidFill>
              </a:rPr>
              <a:t>MVC és 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211B3D"/>
          </a:solidFill>
          <a:ln w="10160">
            <a:solidFill>
              <a:srgbClr val="A78BFA"/>
            </a:solidFill>
            <a:prstDash val="solid"/>
          </a:ln>
          <a:effectLst>
            <a:outerShdw blurRad="15240" dist="1016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9944" y="173736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</a:rPr>
              <a:t>Sanctum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428232" y="219456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7C4DA"/>
                </a:solidFill>
              </a:rPr>
              <a:t>API token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06840" y="150876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17152D"/>
          </a:solidFill>
          <a:ln w="10160">
            <a:solidFill>
              <a:srgbClr val="A78BFA"/>
            </a:solidFill>
            <a:prstDash val="solid"/>
          </a:ln>
          <a:effectLst>
            <a:outerShdw blurRad="15240" dist="1016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53144" y="173736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>
                <a:solidFill>
                  <a:srgbClr val="FBBF24"/>
                </a:solidFill>
              </a:rPr>
              <a:t>CSS/JS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171432" y="219456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7C4DA"/>
                </a:solidFill>
              </a:rPr>
              <a:t>reszponzív UI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24612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211B3D"/>
          </a:solidFill>
          <a:ln w="10160">
            <a:solidFill>
              <a:srgbClr val="A78BFA"/>
            </a:solidFill>
            <a:prstDash val="solid"/>
          </a:ln>
          <a:effectLst>
            <a:outerShdw blurRad="15240" dist="1016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44" y="34747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</a:rPr>
              <a:t>Vite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41832" y="393192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7C4DA"/>
                </a:solidFill>
              </a:rPr>
              <a:t>frontend build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20440" y="324612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17152D"/>
          </a:solidFill>
          <a:ln w="10160">
            <a:solidFill>
              <a:srgbClr val="A78BFA"/>
            </a:solidFill>
            <a:prstDash val="solid"/>
          </a:ln>
          <a:effectLst>
            <a:outerShdw blurRad="15240" dist="1016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66744" y="34747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</a:rPr>
              <a:t>MySQL / SQLite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685032" y="393192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7C4DA"/>
                </a:solidFill>
              </a:rPr>
              <a:t>adatbázis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24612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211B3D"/>
          </a:solidFill>
          <a:ln w="10160">
            <a:solidFill>
              <a:srgbClr val="A78BFA"/>
            </a:solidFill>
            <a:prstDash val="solid"/>
          </a:ln>
          <a:effectLst>
            <a:outerShdw blurRad="15240" dist="1016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9944" y="34747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</a:rPr>
              <a:t>PHPUnit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28232" y="393192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7C4DA"/>
                </a:solidFill>
              </a:rPr>
              <a:t>tesztelés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06840" y="3246120"/>
            <a:ext cx="2148840" cy="1143000"/>
          </a:xfrm>
          <a:prstGeom prst="roundRect">
            <a:avLst>
              <a:gd name="adj" fmla="val 7200"/>
            </a:avLst>
          </a:prstGeom>
          <a:solidFill>
            <a:srgbClr val="17152D"/>
          </a:solidFill>
          <a:ln w="10160">
            <a:solidFill>
              <a:srgbClr val="A78BFA"/>
            </a:solidFill>
            <a:prstDash val="solid"/>
          </a:ln>
          <a:effectLst>
            <a:outerShdw blurRad="15240" dist="1016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53144" y="347472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</a:rPr>
              <a:t>C# WinForms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71432" y="3931920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7C4DA"/>
                </a:solidFill>
              </a:rPr>
              <a:t>asztali admin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7/12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Vásárlói workflow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A felhasználó kevés lépésből jut el a termékkereséstől a rendelésig.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65960" y="2788920"/>
            <a:ext cx="77724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407408" y="2788920"/>
            <a:ext cx="758952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839712" y="2788920"/>
            <a:ext cx="749808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262872" y="2788920"/>
            <a:ext cx="749808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7240" y="2103120"/>
            <a:ext cx="1188720" cy="1371600"/>
          </a:xfrm>
          <a:prstGeom prst="roundRect">
            <a:avLst>
              <a:gd name="adj" fmla="val 6154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0392" y="2221992"/>
            <a:ext cx="1042416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Böngészés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+ szűrők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103120"/>
            <a:ext cx="1664208" cy="1371600"/>
          </a:xfrm>
          <a:prstGeom prst="roundRect">
            <a:avLst>
              <a:gd name="adj" fmla="val 533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816352" y="2221992"/>
            <a:ext cx="1517904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Kosár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+ készlet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66360" y="2103120"/>
            <a:ext cx="1673352" cy="1371600"/>
          </a:xfrm>
          <a:prstGeom prst="roundRect">
            <a:avLst>
              <a:gd name="adj" fmla="val 533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39512" y="2221992"/>
            <a:ext cx="152704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3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Bejelentkezés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/ regisztráció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589520" y="2103120"/>
            <a:ext cx="1673352" cy="1371600"/>
          </a:xfrm>
          <a:prstGeom prst="roundRect">
            <a:avLst>
              <a:gd name="adj" fmla="val 533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62672" y="2221992"/>
            <a:ext cx="152704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Rendelés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+ fizetés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12680" y="2103120"/>
            <a:ext cx="1417320" cy="1371600"/>
          </a:xfrm>
          <a:prstGeom prst="roundRect">
            <a:avLst>
              <a:gd name="adj" fmla="val 5333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085832" y="2221992"/>
            <a:ext cx="1271016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5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Előzmények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profil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5840" y="4800600"/>
            <a:ext cx="9966960" cy="786384"/>
          </a:xfrm>
          <a:prstGeom prst="roundRect">
            <a:avLst>
              <a:gd name="adj" fmla="val 11628"/>
            </a:avLst>
          </a:prstGeom>
          <a:solidFill>
            <a:srgbClr val="17152D"/>
          </a:solidFill>
          <a:ln w="889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" y="50657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</a:rPr>
              <a:t>Kulcsélmény: a vásárló nem technikai részleteket lát, hanem egyszerű keresést, stabil kosarat és kiszámítható rendelést.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8/12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polished_isometric_3d_tech_illustration_on_a_d_batch_2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52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Admin felület és REST API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Az adminisztráció külön asztali kliensből is működik, a backend API-ján keresztül.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417320"/>
            <a:ext cx="4892040" cy="4389120"/>
          </a:xfrm>
          <a:prstGeom prst="rect">
            <a:avLst/>
          </a:prstGeom>
          <a:solidFill>
            <a:srgbClr val="0B0B1A">
              <a:alpha val="9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783080"/>
            <a:ext cx="42519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BBF24"/>
                </a:solidFill>
              </a:rPr>
              <a:t>APIWinform funkciók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212848"/>
            <a:ext cx="4251960" cy="22219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320" dirty="0">
                <a:solidFill>
                  <a:srgbClr val="C7C4DA"/>
                </a:solidFill>
              </a:rPr>
              <a:t>• terméklistázás és kategória szerinti szűrés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új termék létrehozása képfeltöltéssel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bulk import .txt fájlból</a:t>
            </a:r>
            <a:endParaRPr lang="en-US" sz="1320" dirty="0"/>
          </a:p>
          <a:p>
            <a:r>
              <a:rPr lang="en-US" sz="1320" dirty="0">
                <a:solidFill>
                  <a:srgbClr val="C7C4DA"/>
                </a:solidFill>
              </a:rPr>
              <a:t>• soft delete, restore és végleges törlés</a:t>
            </a:r>
            <a:endParaRPr lang="en-US" sz="1320" dirty="0"/>
          </a:p>
        </p:txBody>
      </p:sp>
      <p:sp>
        <p:nvSpPr>
          <p:cNvPr id="10" name="Shape 7"/>
          <p:cNvSpPr/>
          <p:nvPr/>
        </p:nvSpPr>
        <p:spPr>
          <a:xfrm>
            <a:off x="63550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28232" y="2039112"/>
            <a:ext cx="145389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WinForms kliens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3210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394192" y="2039112"/>
            <a:ext cx="145389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REST API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/api/products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315200" y="36576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211B3D"/>
          </a:solidFill>
          <a:ln w="13970">
            <a:solidFill>
              <a:srgbClr val="A78BFA"/>
            </a:solidFill>
            <a:prstDash val="solid"/>
          </a:ln>
          <a:effectLst>
            <a:outerShdw blurRad="19050" dist="12700" dir="2700000" algn="bl" rotWithShape="0">
              <a:srgbClr val="000000">
                <a:alpha val="24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88352" y="3776472"/>
            <a:ext cx="1728216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Laravel backend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Policy + validáció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955280" y="2377440"/>
            <a:ext cx="365760" cy="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098280" y="2834640"/>
            <a:ext cx="0" cy="822960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20" name="Text 16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9/12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ide_clean_3d_illustrated_concept_scene_about_cyb_batch_3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68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Biztonság és tesztelés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A projekt nem csak működik, hanem ellenőrizhető és jogosultságokkal védett.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1371600"/>
            <a:ext cx="4937760" cy="45262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664208"/>
            <a:ext cx="42519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7C3AED"/>
                </a:solidFill>
              </a:rPr>
              <a:t>Biztonsági megoldások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96112" y="2093976"/>
            <a:ext cx="4251960" cy="3136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190" dirty="0">
                <a:solidFill>
                  <a:srgbClr val="241B3F"/>
                </a:solidFill>
              </a:rPr>
              <a:t>• bcrypt jelszóhash és belépéskori session-regenerálás</a:t>
            </a:r>
            <a:endParaRPr lang="en-US" sz="1190" dirty="0"/>
          </a:p>
          <a:p>
            <a:r>
              <a:rPr lang="en-US" sz="1190" dirty="0">
                <a:solidFill>
                  <a:srgbClr val="241B3F"/>
                </a:solidFill>
              </a:rPr>
              <a:t>• CSRF védelem webes módosító útvonalakon</a:t>
            </a:r>
            <a:endParaRPr lang="en-US" sz="1190" dirty="0"/>
          </a:p>
          <a:p>
            <a:r>
              <a:rPr lang="en-US" sz="1190" dirty="0">
                <a:solidFill>
                  <a:srgbClr val="241B3F"/>
                </a:solidFill>
              </a:rPr>
              <a:t>• Sanctum Bearer-token az API réteghez</a:t>
            </a:r>
            <a:endParaRPr lang="en-US" sz="1190" dirty="0"/>
          </a:p>
          <a:p>
            <a:r>
              <a:rPr lang="en-US" sz="1190" dirty="0">
                <a:solidFill>
                  <a:srgbClr val="241B3F"/>
                </a:solidFill>
              </a:rPr>
              <a:t>• ProductPolicy: admin CRUD csak role=1 esetén</a:t>
            </a:r>
            <a:endParaRPr lang="en-US" sz="1190" dirty="0"/>
          </a:p>
          <a:p>
            <a:r>
              <a:rPr lang="en-US" sz="1190" dirty="0">
                <a:solidFill>
                  <a:srgbClr val="241B3F"/>
                </a:solidFill>
              </a:rPr>
              <a:t>• képfeltöltés validálása típus és méret szerint</a:t>
            </a:r>
            <a:endParaRPr lang="en-US" sz="1190" dirty="0"/>
          </a:p>
        </p:txBody>
      </p:sp>
      <p:sp>
        <p:nvSpPr>
          <p:cNvPr id="10" name="Shape 7"/>
          <p:cNvSpPr/>
          <p:nvPr/>
        </p:nvSpPr>
        <p:spPr>
          <a:xfrm>
            <a:off x="6492240" y="1874520"/>
            <a:ext cx="3794760" cy="1508760"/>
          </a:xfrm>
          <a:prstGeom prst="roundRect">
            <a:avLst>
              <a:gd name="adj" fmla="val 6061"/>
            </a:avLst>
          </a:prstGeom>
          <a:solidFill>
            <a:srgbClr val="0B0B1A">
              <a:alpha val="95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2084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BBF24"/>
                </a:solidFill>
              </a:rPr>
              <a:t>24/24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8046720" y="225856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teszt sikeres a v1.1 futtatásban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720840" y="28803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7C4DA"/>
                </a:solidFill>
              </a:rPr>
              <a:t>Feature + Unit tesztek, in-memory SQLite, RefreshDatabase, PHPUnit.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92240" y="3977640"/>
            <a:ext cx="3794760" cy="960120"/>
          </a:xfrm>
          <a:prstGeom prst="roundRect">
            <a:avLst>
              <a:gd name="adj" fmla="val 9524"/>
            </a:avLst>
          </a:prstGeom>
          <a:solidFill>
            <a:srgbClr val="17152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20840" y="418795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BBF24"/>
                </a:solidFill>
              </a:rPr>
              <a:t>v1.2 karbantartási pont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20840" y="44988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DDD6FE"/>
                </a:solidFill>
              </a:rPr>
              <a:t>OrderTest 4 fail az új sémamódosítás miatt – dokumentált technikai adósság.</a:t>
            </a:r>
            <a:endParaRPr lang="en-US" sz="1080" dirty="0"/>
          </a:p>
        </p:txBody>
      </p:sp>
      <p:sp>
        <p:nvSpPr>
          <p:cNvPr id="18" name="Text 14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10/12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clean_vector_illustration_style_tech_office_scen_batch_4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0B0B1A">
              <a:alpha val="54000"/>
            </a:srgbClr>
          </a:solidFill>
          <a:ln w="12700">
            <a:solidFill>
              <a:srgbClr val="0B0B1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ptos Display"/>
              </a:rPr>
              <a:t>Csapatmunka és munkamegosztás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sz="1050">
                <a:solidFill>
                  <a:srgbClr val="DDD6FE"/>
                </a:solidFill>
              </a:rPr>
              <a:t>A projekt közös fejlesztésben készült, egymást kiegészítő felelősségi körökkel.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87452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0B0B1A">
              <a:alpha val="92000"/>
            </a:srgbClr>
          </a:solidFill>
          <a:ln w="11430">
            <a:solidFill>
              <a:srgbClr val="A78BFA"/>
            </a:solidFill>
            <a:prstDash val="solid"/>
          </a:ln>
          <a:effectLst>
            <a:outerShdw blurRad="19050" dist="1143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86968" y="2130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</a:rPr>
              <a:t>Harkó Dávid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41832" y="26517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DDD6FE"/>
                </a:solidFill>
              </a:rPr>
              <a:t>Backend · REST API · admin app</a:t>
            </a:r>
            <a:endParaRPr lang="en-US" sz="1180" dirty="0"/>
          </a:p>
        </p:txBody>
      </p:sp>
      <p:sp>
        <p:nvSpPr>
          <p:cNvPr id="10" name="Text 7"/>
          <p:cNvSpPr/>
          <p:nvPr/>
        </p:nvSpPr>
        <p:spPr>
          <a:xfrm>
            <a:off x="1005840" y="3337560"/>
            <a:ext cx="269748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C7C4DA"/>
                </a:solidFill>
              </a:rPr>
              <a:t>Modellek, migrációk, ProductPolicy, Sanctum, APIWinform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480560" y="187452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0B0B1A">
              <a:alpha val="92000"/>
            </a:srgbClr>
          </a:solidFill>
          <a:ln w="11430">
            <a:solidFill>
              <a:srgbClr val="A78BFA"/>
            </a:solidFill>
            <a:prstDash val="solid"/>
          </a:ln>
          <a:effectLst>
            <a:outerShdw blurRad="19050" dist="1143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681728" y="2130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</a:rPr>
              <a:t>Zakar Levente Gusztáv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736592" y="26517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DDD6FE"/>
                </a:solidFill>
              </a:rPr>
              <a:t>Frontend · UI · reszponzivitás</a:t>
            </a:r>
            <a:endParaRPr lang="en-US" sz="1180" dirty="0"/>
          </a:p>
        </p:txBody>
      </p:sp>
      <p:sp>
        <p:nvSpPr>
          <p:cNvPr id="14" name="Text 11"/>
          <p:cNvSpPr/>
          <p:nvPr/>
        </p:nvSpPr>
        <p:spPr>
          <a:xfrm>
            <a:off x="4800600" y="3337560"/>
            <a:ext cx="269748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C7C4DA"/>
                </a:solidFill>
              </a:rPr>
              <a:t>Blade nézetek, CSS, profil/kosár/termékoldalak, képek</a:t>
            </a:r>
            <a:endParaRPr lang="en-US" sz="1030" dirty="0"/>
          </a:p>
        </p:txBody>
      </p:sp>
      <p:sp>
        <p:nvSpPr>
          <p:cNvPr id="15" name="Shape 12"/>
          <p:cNvSpPr/>
          <p:nvPr/>
        </p:nvSpPr>
        <p:spPr>
          <a:xfrm>
            <a:off x="8275320" y="187452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0B0B1A">
              <a:alpha val="92000"/>
            </a:srgbClr>
          </a:solidFill>
          <a:ln w="11430">
            <a:solidFill>
              <a:srgbClr val="A78BFA"/>
            </a:solidFill>
            <a:prstDash val="solid"/>
          </a:ln>
          <a:effectLst>
            <a:outerShdw blurRad="19050" dist="1143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76488" y="2130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</a:rPr>
              <a:t>Iancu‑Tóth Daniel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8531352" y="26517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DDD6FE"/>
                </a:solidFill>
              </a:rPr>
              <a:t>Integráció · tesztelés · design system</a:t>
            </a:r>
            <a:endParaRPr lang="en-US" sz="1180" dirty="0"/>
          </a:p>
        </p:txBody>
      </p:sp>
      <p:sp>
        <p:nvSpPr>
          <p:cNvPr id="18" name="Text 15"/>
          <p:cNvSpPr/>
          <p:nvPr/>
        </p:nvSpPr>
        <p:spPr>
          <a:xfrm>
            <a:off x="8595360" y="3337560"/>
            <a:ext cx="269748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C7C4DA"/>
                </a:solidFill>
              </a:rPr>
              <a:t>Controller-integrációk, CSS-változók, Material Icons, tesztek, dokumentáció</a:t>
            </a:r>
            <a:endParaRPr lang="en-US" sz="1030" dirty="0"/>
          </a:p>
        </p:txBody>
      </p:sp>
      <p:sp>
        <p:nvSpPr>
          <p:cNvPr id="19" name="Text 16"/>
          <p:cNvSpPr/>
          <p:nvPr/>
        </p:nvSpPr>
        <p:spPr>
          <a:xfrm>
            <a:off x="1005840" y="5687568"/>
            <a:ext cx="101955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sz="1500" b="1">
                <a:solidFill>
                  <a:srgbClr val="FFFFFF"/>
                </a:solidFill>
              </a:rPr>
              <a:t>Bemutatáskor a csapat közösen mutatja be a teljes rendszert: backend, frontend, integráció, tesztelés és dokumentáció.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11/12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Demó menetrend és English abstract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832104"/>
            <a:ext cx="7132320" cy="2468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DDD6FE"/>
                </a:solidFill>
              </a:rPr>
              <a:t>Javasolt 30 perces prezentáció: rövid áttekintés, élő demó, saját rész, angol összefoglaló.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078992"/>
            <a:ext cx="1874520" cy="0"/>
          </a:xfrm>
          <a:prstGeom prst="line">
            <a:avLst/>
          </a:prstGeom>
          <a:noFill/>
          <a:ln w="2794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4434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BBF24"/>
                </a:solidFill>
              </a:rPr>
              <a:t>Demó sorrend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84248"/>
            <a:ext cx="4434840" cy="2907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1260" dirty="0">
                <a:solidFill>
                  <a:srgbClr val="C7C4DA"/>
                </a:solidFill>
              </a:rPr>
              <a:t>• főoldal és termékszűrés</a:t>
            </a:r>
            <a:endParaRPr lang="en-US" sz="1260" dirty="0"/>
          </a:p>
          <a:p>
            <a:r>
              <a:rPr lang="en-US" sz="1260" dirty="0">
                <a:solidFill>
                  <a:srgbClr val="C7C4DA"/>
                </a:solidFill>
              </a:rPr>
              <a:t>• termék kosárba helyezése, készletellenőrzés</a:t>
            </a:r>
            <a:endParaRPr lang="en-US" sz="1260" dirty="0"/>
          </a:p>
          <a:p>
            <a:r>
              <a:rPr lang="en-US" sz="1260" dirty="0">
                <a:solidFill>
                  <a:srgbClr val="C7C4DA"/>
                </a:solidFill>
              </a:rPr>
              <a:t>• rendelés leadása és rendelési előzmények</a:t>
            </a:r>
            <a:endParaRPr lang="en-US" sz="1260" dirty="0"/>
          </a:p>
          <a:p>
            <a:r>
              <a:rPr lang="en-US" sz="1260" dirty="0">
                <a:solidFill>
                  <a:srgbClr val="C7C4DA"/>
                </a:solidFill>
              </a:rPr>
              <a:t>• admin termékkezelés / APIWinform</a:t>
            </a:r>
            <a:endParaRPr lang="en-US" sz="1260" dirty="0"/>
          </a:p>
          <a:p>
            <a:r>
              <a:rPr lang="en-US" sz="1260" dirty="0">
                <a:solidFill>
                  <a:srgbClr val="C7C4DA"/>
                </a:solidFill>
              </a:rPr>
              <a:t>• tesztek és dokumentáció záró bemutatása</a:t>
            </a:r>
            <a:endParaRPr lang="en-US" sz="126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074920" cy="3246120"/>
          </a:xfrm>
          <a:prstGeom prst="roundRect">
            <a:avLst>
              <a:gd name="adj" fmla="val 3380"/>
            </a:avLst>
          </a:prstGeom>
          <a:solidFill>
            <a:srgbClr val="211B3D"/>
          </a:solidFill>
          <a:ln w="12700">
            <a:solidFill>
              <a:srgbClr val="A78BFA"/>
            </a:solidFill>
            <a:prstDash val="solid"/>
          </a:ln>
          <a:effectLst>
            <a:outerShdw blurRad="17780" dist="10160" dir="27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874520"/>
            <a:ext cx="4434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BBF24"/>
                </a:solidFill>
              </a:rPr>
              <a:t>English abstract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423160"/>
            <a:ext cx="4434840" cy="1755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DD6FE"/>
                </a:solidFill>
              </a:rPr>
              <a:t>TechShop is a Laravel 12 based electronics e-commerce application. It provides product browsing, filtering, a session-based cart, checkout, order history, admin product management, and a REST API secured with Sanctum. The responsive web frontend works on desktop and mobile, while the Windows Forms admin client demonstrates native desktop integration.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5532120"/>
            <a:ext cx="10287000" cy="0"/>
          </a:xfrm>
          <a:prstGeom prst="line">
            <a:avLst/>
          </a:prstGeom>
          <a:noFill/>
          <a:ln w="1905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806440"/>
            <a:ext cx="10104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Zárás: a TechShop teljesíti a vizsgaremek fő elvárásait: valós probléma, adatkezelés, REST, több kliens, dokumentáció és tesztelés.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921240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B96BA"/>
                </a:solidFill>
              </a:rPr>
              <a:t>TechShop vizsgaremek · 12/12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TechShop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TechShop – Vizsgaremek prezentáció</dc:title>
  <dc:subject>TechShop vizsgaremek prezentáció</dc:subject>
  <dc:creator>OpenAI</dc:creator>
  <cp:lastModifiedBy>OpenAI</cp:lastModifiedBy>
  <cp:revision>13</cp:revision>
  <dcterms:created xsi:type="dcterms:W3CDTF">2026-04-26T15:01:22Z</dcterms:created>
  <dcterms:modified xsi:type="dcterms:W3CDTF">2026-04-28T07:03:22Z</dcterms:modified>
</cp:coreProperties>
</file>