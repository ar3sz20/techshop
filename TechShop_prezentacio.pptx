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dia áthelyezéséhez kattintson ide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jegyzetformátum szerkesztéséhez kattintson ide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&lt;élőfej&gt;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4E7CA8-8371-49AA-84A8-CF7D38BFED10}" type="slidenum"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Nyitás: röviden elmondjuk, hogy a TechShop egy vizsgaremekként készített elektronikai webshop. Kiemelés: reszponzív vásárlói felület, Laravel backend, REST API és Windows Forms admin kliens.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D61994-0920-4B5D-8209-E440DFCCD4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Itt érdemes az elvárásokat egyenként összekötni a projekttel: valós probléma, adatkezelés, REST, több kliens, csapatmunka, tesztelés. Röviden, pontszerűen.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158DF8-8005-4E16-B4D5-F77B05BB44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projekt motivációja: a TechShop a kisebb webshopoknál tapasztalt problémákra ad választ: mobilbarát felület, átlátható struktúra, gyors kosár és rendelés, valamint biztonságos alap.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3D5E8E-95F3-4876-9143-8FC28C2DE3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stack felsorolásánál ki kell emelni, hogy minden technológia funkcióhoz kötődik: Laravel a backendhez, Tailwind és Vite a frontendhez, Sanctum az API auth-hoz, WinForms az admin klienshez, PHPUnit a minőségbiztosításhoz.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D76BCE-10F1-4971-8D02-1DB5F8FF5F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komponensek: webes felület a vásárlóknak, API réteg a külső klienseknek és az admin appnak, Eloquent modellek és adatbázis. A biztonsági komponenseket külön említsük: Sanctum, Policy, Form Request.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598AC4-EF7F-432A-B63A-29069AEB10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Ezen a dián a funkciókat nem technológia szerint, hanem felhasználói szerepkör szerint érdemes magyarázni: vásárló, admin, külső kliens/API.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2E86AA-D159-4EA0-8646-A771A650E8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demóban ezt a folyamatot lehet végigmutatni: keresés vagy szűrés, termékoldal, kosár, rendelés, rendelési előzmények.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173D74-A277-42B0-92BC-12119B4B24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 adatmodellnél a fő táblák: users, products, orders, newsletters. A rendelési folyamat legfontosabb része a készletellenőrzés és a készlet csökkentése.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F18EC-E782-4499-83DE-DD55D4E94C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Fontos: a KKK több kliens oldali komponensre vonatkozó elvárását a reszponzív webes vásárlói felület és a natív Windows Forms admin kliens együtt teljesíti.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9E44F-7CE7-417A-A8EE-DCF6D2F6C3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tesztelésnél őszintén érdemes elmondani: a v1.1 futtatásban minden teszt zöld volt, a v1.2 sémaváltás után az OrderTestek frissítése karbantartási feladatként szerepel.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6C15E0-3D4C-4DC6-BA74-90E962568D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Saját rész bemutatása Danielnek: integráció a kontrollerek és route-ok között, design system refaktor, Material Icons, hibajelzések javítása, automatikus tesztek és dokumentáció. Ezt angolul is össze kell foglalni.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6A71E9-7120-4008-9837-7990EF2D60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-228600" y="1523880"/>
            <a:ext cx="7314840" cy="41144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Záró slide: mondd el angolul az abstractot. Ha csapatban mutattok be, mindenki kapjon saját rövid magyar és angol részt. A végén lehet kérdezni az architektúráról, adatmodellről és tesztekről.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1B057D-1801-441A-897E-C413F2C261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Címszöveg formátumának szerkesztése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Vázlatszöveg formátumának szerkesztése</a:t>
            </a:r>
            <a:endParaRPr lang="hu-H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Második vázlatszint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Harmadik vázlatszint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Negyedik vázlatszint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Ötödik vázlatszint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Hatodik vázlatszint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Hetedik vázlatszint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lapértelmezett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a_wide_cinematic_studio_rendered_scene_3d_digit_batch_1.png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6126120" cy="6857640"/>
          </a:xfrm>
          <a:prstGeom prst="rect">
            <a:avLst/>
          </a:prstGeom>
          <a:solidFill>
            <a:srgbClr val="0B0B1A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685800" y="685800"/>
            <a:ext cx="3611520" cy="31968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58880" y="758880"/>
            <a:ext cx="34653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Szoftverfejlesztő és -tesztelő vizsgaremek</a:t>
            </a:r>
            <a:endParaRPr lang="hu-HU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58440" y="1325880"/>
            <a:ext cx="5028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TechShop</a:t>
            </a:r>
            <a:endParaRPr lang="hu-H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13160" y="2148840"/>
            <a:ext cx="4800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Laravel alapú elektronikai webáruház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reszponzív webfelülettel és asztali admin klienssel</a:t>
            </a:r>
            <a:endParaRPr lang="hu-H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731520" y="3401280"/>
            <a:ext cx="2468880" cy="360"/>
          </a:xfrm>
          <a:prstGeom prst="line">
            <a:avLst/>
          </a:prstGeom>
          <a:ln w="381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13160" y="579744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Harkó Dávid · Zakar Levente Gusztáv · Iancu‑Tóth Daniel</a:t>
            </a:r>
            <a:endParaRPr lang="hu-H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1/12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KKK elvárások → TechShop megfeleltetés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645480" y="90000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685800" y="1508760"/>
            <a:ext cx="2148480" cy="959760"/>
          </a:xfrm>
          <a:prstGeom prst="roundRect">
            <a:avLst>
              <a:gd name="adj" fmla="val 7619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58880" y="1627560"/>
            <a:ext cx="20023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Életszerű probléma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 elektronikai webshop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3063240" y="1508760"/>
            <a:ext cx="2285640" cy="959760"/>
          </a:xfrm>
          <a:prstGeom prst="roundRect">
            <a:avLst>
              <a:gd name="adj" fmla="val 7619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136320" y="1627560"/>
            <a:ext cx="21394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Adattárolás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 termékek, rendelések, felhasználók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5577840" y="1508760"/>
            <a:ext cx="2285640" cy="959760"/>
          </a:xfrm>
          <a:prstGeom prst="roundRect">
            <a:avLst>
              <a:gd name="adj" fmla="val 7619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5650920" y="1627560"/>
            <a:ext cx="21394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REST architektúra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 /api végpontok + Sanctum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8092440" y="1508760"/>
            <a:ext cx="2422800" cy="959760"/>
          </a:xfrm>
          <a:prstGeom prst="roundRect">
            <a:avLst>
              <a:gd name="adj" fmla="val 7619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8165520" y="1627560"/>
            <a:ext cx="227664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Asztali + mobil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 reszponzív web + WinForms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3886200" y="3063240"/>
            <a:ext cx="2559960" cy="959760"/>
          </a:xfrm>
          <a:prstGeom prst="roundRect">
            <a:avLst>
              <a:gd name="adj" fmla="val 7619"/>
            </a:avLst>
          </a:prstGeom>
          <a:solidFill>
            <a:srgbClr val="17152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3959280" y="3182040"/>
            <a:ext cx="241380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Csapatmunka</a:t>
            </a:r>
            <a:endParaRPr lang="hu-HU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 Git/GitHub + feladatrészek</a:t>
            </a:r>
            <a:endParaRPr lang="hu-HU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6812280" y="3063240"/>
            <a:ext cx="2742840" cy="959760"/>
          </a:xfrm>
          <a:prstGeom prst="roundRect">
            <a:avLst>
              <a:gd name="adj" fmla="val 7619"/>
            </a:avLst>
          </a:prstGeom>
          <a:solidFill>
            <a:srgbClr val="17152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6885360" y="3182040"/>
            <a:ext cx="25966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Tesztelés és dokumentáció</a:t>
            </a:r>
            <a:endParaRPr lang="hu-HU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 PHPUnit + műszaki doksi</a:t>
            </a:r>
            <a:endParaRPr lang="hu-HU" sz="10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2834640" y="1983960"/>
            <a:ext cx="22860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5349240" y="1983960"/>
            <a:ext cx="22860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7863840" y="1983960"/>
            <a:ext cx="22860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5166360" y="2514600"/>
            <a:ext cx="360" cy="548640"/>
          </a:xfrm>
          <a:prstGeom prst="line">
            <a:avLst/>
          </a:prstGeom>
          <a:ln w="22860">
            <a:solidFill>
              <a:srgbClr val="A78B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6720840" y="2514600"/>
            <a:ext cx="1371600" cy="548640"/>
          </a:xfrm>
          <a:prstGeom prst="line">
            <a:avLst/>
          </a:prstGeom>
          <a:ln w="22860">
            <a:solidFill>
              <a:srgbClr val="A78B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2/12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/mnt/data/a_wide_cinematic_studio_rendered_scene_3d_digit_batch_1.png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Shape 0"/>
          <p:cNvSpPr/>
          <p:nvPr/>
        </p:nvSpPr>
        <p:spPr>
          <a:xfrm>
            <a:off x="9000" y="9000"/>
            <a:ext cx="12173040" cy="6839280"/>
          </a:xfrm>
          <a:prstGeom prst="rect">
            <a:avLst/>
          </a:prstGeom>
          <a:solidFill>
            <a:srgbClr val="0B0B1A">
              <a:alpha val="52000"/>
            </a:srgbClr>
          </a:solidFill>
          <a:ln w="12700">
            <a:solidFill>
              <a:srgbClr val="0B0B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Probléma és célkitűzés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645480" y="89964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594360" y="1417320"/>
            <a:ext cx="5074560" cy="4480200"/>
          </a:xfrm>
          <a:prstGeom prst="rect">
            <a:avLst/>
          </a:prstGeom>
          <a:solidFill>
            <a:srgbClr val="0B0B1A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868680" y="173736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Kiinduló probléma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868680" y="2167200"/>
            <a:ext cx="443448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nem reszponzív, nehezen használható felületek</a:t>
            </a:r>
            <a:endParaRPr lang="hu-HU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átláthatatlan terméklista és kevés szűrés</a:t>
            </a:r>
            <a:endParaRPr lang="hu-HU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széttöredezett kosár- és rendelési folyamat</a:t>
            </a:r>
            <a:endParaRPr lang="hu-HU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868680" y="370332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TechShop célja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868680" y="4133160"/>
            <a:ext cx="443448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modern, magyar nyelvű elektronikai webáruház</a:t>
            </a:r>
            <a:endParaRPr lang="hu-HU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egyszerű termékböngészés és gyors rendelés</a:t>
            </a:r>
            <a:endParaRPr lang="hu-HU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biztonságos, bővíthető Laravel alap</a:t>
            </a:r>
            <a:endParaRPr lang="hu-HU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6492240" y="1828800"/>
            <a:ext cx="731160" cy="73116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7360920" y="19386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Átlátható vásárlás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2"/>
          <p:cNvSpPr/>
          <p:nvPr/>
        </p:nvSpPr>
        <p:spPr>
          <a:xfrm>
            <a:off x="6492240" y="2926080"/>
            <a:ext cx="731160" cy="73116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7360920" y="30358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Reszponzív UI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6492240" y="4023360"/>
            <a:ext cx="731160" cy="73116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7360920" y="413316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Fejleszthető alap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3/12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Technológiai stack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645480" y="89964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777240" y="150876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211B3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923400" y="173736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PHP 8.2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941760" y="219456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backend nyelv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520440" y="150876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17152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3666600" y="173736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Laravel 12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3684960" y="219456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MVC és ORM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6263640" y="150876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211B3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6409800" y="173736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Sanctum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6428160" y="219456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API token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9006840" y="150876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17152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9153000" y="173736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CSS/JS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9171360" y="219456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reszponzív UI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777240" y="324612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211B3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923400" y="347472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Vite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941760" y="393192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frontend build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3520440" y="324612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17152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3666600" y="347472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MySQL / SQLite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3684960" y="393192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adatbázis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6263640" y="324612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211B3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6409800" y="347472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PHPUnit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3"/>
          <p:cNvSpPr/>
          <p:nvPr/>
        </p:nvSpPr>
        <p:spPr>
          <a:xfrm>
            <a:off x="6428160" y="393192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tesztelés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9006840" y="3246120"/>
            <a:ext cx="2148480" cy="1142640"/>
          </a:xfrm>
          <a:prstGeom prst="roundRect">
            <a:avLst>
              <a:gd name="adj" fmla="val 7200"/>
            </a:avLst>
          </a:prstGeom>
          <a:solidFill>
            <a:srgbClr val="17152D"/>
          </a:solidFill>
          <a:ln w="10160">
            <a:solidFill>
              <a:srgbClr val="A78BFA"/>
            </a:solidFill>
            <a:round/>
          </a:ln>
          <a:effectLst>
            <a:outerShdw algn="bl" blurRad="15120" dir="2700000" dist="9673" rotWithShape="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9153000" y="3474720"/>
            <a:ext cx="185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C# WinForms</a:t>
            </a:r>
            <a:endParaRPr lang="hu-H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9171360" y="3931920"/>
            <a:ext cx="1819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asztali admin panel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7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7/12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mage 0" descr="/mnt/data/a_polished_isometric_3d_tech_illustration_on_a_d_batch_2.png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Shape 0"/>
          <p:cNvSpPr/>
          <p:nvPr/>
        </p:nvSpPr>
        <p:spPr>
          <a:xfrm>
            <a:off x="9000" y="9000"/>
            <a:ext cx="12173040" cy="6839280"/>
          </a:xfrm>
          <a:prstGeom prst="rect">
            <a:avLst/>
          </a:prstGeom>
          <a:solidFill>
            <a:srgbClr val="0B0B1A">
              <a:alpha val="80000"/>
            </a:srgbClr>
          </a:solidFill>
          <a:ln w="12700">
            <a:solidFill>
              <a:srgbClr val="0B0B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Architektúra áttekintés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640080" y="86112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2240280" y="2743200"/>
            <a:ext cx="82296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4681440" y="2743200"/>
            <a:ext cx="80496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7086600" y="2743200"/>
            <a:ext cx="82296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9491400" y="2743200"/>
            <a:ext cx="70416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6217920" y="3309840"/>
            <a:ext cx="360" cy="1125000"/>
          </a:xfrm>
          <a:prstGeom prst="line">
            <a:avLst/>
          </a:prstGeom>
          <a:ln w="22860">
            <a:solidFill>
              <a:srgbClr val="A78B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731520" y="2240280"/>
            <a:ext cx="150840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804600" y="2359080"/>
            <a:ext cx="1362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Böngésző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Blade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3063240" y="2240280"/>
            <a:ext cx="162720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3136320" y="2359080"/>
            <a:ext cx="14810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routes/web.php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Controller-ek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5486400" y="2240280"/>
            <a:ext cx="159984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5559480" y="2359080"/>
            <a:ext cx="1453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routes/api.php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REST JSON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7909560" y="2240280"/>
            <a:ext cx="157248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7982640" y="2359080"/>
            <a:ext cx="14259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Eloquent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Modellek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10195560" y="2240280"/>
            <a:ext cx="141696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10268640" y="2359080"/>
            <a:ext cx="12708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MySQL / SQLite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Adatbázis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9"/>
          <p:cNvSpPr/>
          <p:nvPr/>
        </p:nvSpPr>
        <p:spPr>
          <a:xfrm>
            <a:off x="4480560" y="4434840"/>
            <a:ext cx="3474360" cy="914040"/>
          </a:xfrm>
          <a:prstGeom prst="roundRect">
            <a:avLst>
              <a:gd name="adj" fmla="val 8000"/>
            </a:avLst>
          </a:prstGeom>
          <a:solidFill>
            <a:srgbClr val="17152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4553640" y="4553640"/>
            <a:ext cx="3328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Session kosár</a:t>
            </a:r>
            <a:endParaRPr lang="hu-HU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ProductPolicy · Sanctum · Form Request</a:t>
            </a:r>
            <a:endParaRPr lang="hu-HU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2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5/12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Fő funkciók szerepkörönként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645480" y="90000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685800" y="1508760"/>
            <a:ext cx="2880000" cy="4068720"/>
          </a:xfrm>
          <a:prstGeom prst="roundRect">
            <a:avLst>
              <a:gd name="adj" fmla="val 3810"/>
            </a:avLst>
          </a:prstGeom>
          <a:solidFill>
            <a:srgbClr val="100F22">
              <a:alpha val="95000"/>
            </a:srgbClr>
          </a:solidFill>
          <a:ln w="13970">
            <a:solidFill>
              <a:srgbClr val="4C3D7E"/>
            </a:solidFill>
            <a:round/>
          </a:ln>
          <a:effectLst>
            <a:outerShdw algn="bl" blurRad="25560" dir="2700000" dist="12218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850320" y="1673280"/>
            <a:ext cx="2550960" cy="383760"/>
          </a:xfrm>
          <a:prstGeom prst="roundRect">
            <a:avLst>
              <a:gd name="adj" fmla="val 19048"/>
            </a:avLst>
          </a:prstGeom>
          <a:solidFill>
            <a:srgbClr val="FBBF24">
              <a:alpha val="90000"/>
            </a:srgbClr>
          </a:solidFill>
          <a:ln w="12700">
            <a:solidFill>
              <a:srgbClr val="FBBF2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978480" y="1755720"/>
            <a:ext cx="22615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0B1A"/>
                </a:solidFill>
                <a:effectLst/>
                <a:uFillTx/>
                <a:latin typeface="Aptos"/>
              </a:rPr>
              <a:t>Vásárló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960120" y="2286000"/>
            <a:ext cx="233136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Termékböngészés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Kategória, típus és ár szerinti szűrés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Kosárkezelés készletellenőrzéssel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Rendelés leadása és rendelési előzmények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4590360" y="1508760"/>
            <a:ext cx="2880000" cy="4068720"/>
          </a:xfrm>
          <a:prstGeom prst="roundRect">
            <a:avLst>
              <a:gd name="adj" fmla="val 3810"/>
            </a:avLst>
          </a:prstGeom>
          <a:solidFill>
            <a:srgbClr val="100F22">
              <a:alpha val="95000"/>
            </a:srgbClr>
          </a:solidFill>
          <a:ln w="13970">
            <a:solidFill>
              <a:srgbClr val="4C3D7E"/>
            </a:solidFill>
            <a:round/>
          </a:ln>
          <a:effectLst>
            <a:outerShdw algn="bl" blurRad="25560" dir="2700000" dist="12218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4754880" y="1673280"/>
            <a:ext cx="2550960" cy="383760"/>
          </a:xfrm>
          <a:prstGeom prst="roundRect">
            <a:avLst>
              <a:gd name="adj" fmla="val 19048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883040" y="1755720"/>
            <a:ext cx="23169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0B1A"/>
                </a:solidFill>
                <a:effectLst/>
                <a:uFillTx/>
                <a:latin typeface="Aptos"/>
              </a:rPr>
              <a:t>Admin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4864680" y="2286000"/>
            <a:ext cx="233136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Termék létrehozás és szerkesztés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Képfeltöltés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Soft delete, visszaállítás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Bulk import asztali kliensből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8485560" y="1508760"/>
            <a:ext cx="2880000" cy="4068720"/>
          </a:xfrm>
          <a:prstGeom prst="roundRect">
            <a:avLst>
              <a:gd name="adj" fmla="val 3810"/>
            </a:avLst>
          </a:prstGeom>
          <a:solidFill>
            <a:srgbClr val="100F22">
              <a:alpha val="95000"/>
            </a:srgbClr>
          </a:solidFill>
          <a:ln w="13970">
            <a:solidFill>
              <a:srgbClr val="4C3D7E"/>
            </a:solidFill>
            <a:round/>
          </a:ln>
          <a:effectLst>
            <a:outerShdw algn="bl" blurRad="25560" dir="2700000" dist="12218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8650080" y="1673280"/>
            <a:ext cx="2550960" cy="383760"/>
          </a:xfrm>
          <a:prstGeom prst="roundRect">
            <a:avLst>
              <a:gd name="adj" fmla="val 19048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8778240" y="1755720"/>
            <a:ext cx="23817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0B1A"/>
                </a:solidFill>
                <a:effectLst/>
                <a:uFillTx/>
                <a:latin typeface="Aptos"/>
              </a:rPr>
              <a:t>REST / külső kliens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8759880" y="2286000"/>
            <a:ext cx="233136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JSON API termékekhez és rendelésekhez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Sanctum tokenes hitelesítés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DDD6FE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WinForms admin kliens kommunikáció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4/12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Vásárlói workflow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621720" y="86148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1965960" y="2788920"/>
            <a:ext cx="77724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4407120" y="2788920"/>
            <a:ext cx="75924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6839640" y="2788920"/>
            <a:ext cx="74988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6"/>
          <p:cNvSpPr/>
          <p:nvPr/>
        </p:nvSpPr>
        <p:spPr>
          <a:xfrm>
            <a:off x="9262800" y="2788920"/>
            <a:ext cx="74988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777240" y="2103120"/>
            <a:ext cx="1188360" cy="1371240"/>
          </a:xfrm>
          <a:prstGeom prst="roundRect">
            <a:avLst>
              <a:gd name="adj" fmla="val 6154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850320" y="2221920"/>
            <a:ext cx="10422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Böngészés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+ szűrők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2743200" y="2103120"/>
            <a:ext cx="1663920" cy="1371240"/>
          </a:xfrm>
          <a:prstGeom prst="roundRect">
            <a:avLst>
              <a:gd name="adj" fmla="val 533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2816280" y="2221920"/>
            <a:ext cx="15174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Kosár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+ készlet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5166360" y="2103120"/>
            <a:ext cx="1672920" cy="1371240"/>
          </a:xfrm>
          <a:prstGeom prst="roundRect">
            <a:avLst>
              <a:gd name="adj" fmla="val 533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5239440" y="2221920"/>
            <a:ext cx="15267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Bejelentkezés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/ regisztráció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3"/>
          <p:cNvSpPr/>
          <p:nvPr/>
        </p:nvSpPr>
        <p:spPr>
          <a:xfrm>
            <a:off x="7589520" y="2103120"/>
            <a:ext cx="1672920" cy="1371240"/>
          </a:xfrm>
          <a:prstGeom prst="roundRect">
            <a:avLst>
              <a:gd name="adj" fmla="val 533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7662600" y="2221920"/>
            <a:ext cx="15267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Rendelés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+ fizetés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10012680" y="2103120"/>
            <a:ext cx="1416960" cy="1371240"/>
          </a:xfrm>
          <a:prstGeom prst="roundRect">
            <a:avLst>
              <a:gd name="adj" fmla="val 533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10085760" y="2221920"/>
            <a:ext cx="127080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Előzmények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profil</a:t>
            </a:r>
            <a:endParaRPr lang="hu-HU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7"/>
          <p:cNvSpPr/>
          <p:nvPr/>
        </p:nvSpPr>
        <p:spPr>
          <a:xfrm>
            <a:off x="1005840" y="4800600"/>
            <a:ext cx="9966600" cy="785880"/>
          </a:xfrm>
          <a:prstGeom prst="roundRect">
            <a:avLst>
              <a:gd name="adj" fmla="val 11628"/>
            </a:avLst>
          </a:prstGeom>
          <a:solidFill>
            <a:srgbClr val="17152D"/>
          </a:solidFill>
          <a:ln w="889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1234440" y="5065920"/>
            <a:ext cx="9509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Kulcsélmény: a vásárló nem technikai részleteket lát, hanem egyszerű keresést, stabil kosarat és kiszámítható rendelést.</a:t>
            </a:r>
            <a:endParaRPr lang="hu-H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8/12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Adatmodell és rendelési folyamat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645480" y="90000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2486880" y="2423160"/>
            <a:ext cx="139932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5715000" y="2423160"/>
            <a:ext cx="139896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5760720" y="3977640"/>
            <a:ext cx="1353240" cy="360"/>
          </a:xfrm>
          <a:prstGeom prst="line">
            <a:avLst/>
          </a:prstGeom>
          <a:ln w="22860">
            <a:solidFill>
              <a:srgbClr val="A78B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822960" y="1920240"/>
            <a:ext cx="166392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896040" y="2039040"/>
            <a:ext cx="1517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USERS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name · email · role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3886200" y="1920240"/>
            <a:ext cx="182844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3959280" y="2039040"/>
            <a:ext cx="1682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ORDERS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address · total_price · status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0"/>
          <p:cNvSpPr/>
          <p:nvPr/>
        </p:nvSpPr>
        <p:spPr>
          <a:xfrm>
            <a:off x="7113960" y="1920240"/>
            <a:ext cx="1919880" cy="1005480"/>
          </a:xfrm>
          <a:prstGeom prst="roundRect">
            <a:avLst>
              <a:gd name="adj" fmla="val 7273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7187040" y="2039040"/>
            <a:ext cx="1773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PRODUCTS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name · price · quantity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3886200" y="3493080"/>
            <a:ext cx="1828440" cy="914040"/>
          </a:xfrm>
          <a:prstGeom prst="roundRect">
            <a:avLst>
              <a:gd name="adj" fmla="val 8000"/>
            </a:avLst>
          </a:prstGeom>
          <a:solidFill>
            <a:srgbClr val="17152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3959280" y="3611880"/>
            <a:ext cx="1682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NEWSLETTERS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email</a:t>
            </a:r>
            <a:endParaRPr lang="hu-H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868680" y="491040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Vásárlás adatfolyama</a:t>
            </a:r>
            <a:endParaRPr lang="hu-H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868680" y="539496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Termék kiválasztása → kosárba helyezés → készletellenőrzés → rendelés mentése → készlet csökkentése → rendelési előzmény</a:t>
            </a:r>
            <a:endParaRPr lang="hu-H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6/12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 0" descr="/mnt/data/a_polished_isometric_3d_tech_illustration_on_a_d_batch_2.png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1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Admin felület és REST API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540000" y="89964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640080" y="1417320"/>
            <a:ext cx="4891680" cy="4388760"/>
          </a:xfrm>
          <a:prstGeom prst="rect">
            <a:avLst/>
          </a:prstGeom>
          <a:solidFill>
            <a:srgbClr val="0B0B1A">
              <a:alpha val="93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78308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APIWinform funkciók</a:t>
            </a:r>
            <a:endParaRPr lang="hu-H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914400" y="2212920"/>
            <a:ext cx="4251600" cy="22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terméklistázás és kategória szerinti szűrés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új termék létrehozása képfeltöltéssel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bulk import .txt fájlból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• soft delete, restore és végleges törlés</a:t>
            </a:r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6355080" y="1920240"/>
            <a:ext cx="1599840" cy="914040"/>
          </a:xfrm>
          <a:prstGeom prst="roundRect">
            <a:avLst>
              <a:gd name="adj" fmla="val 8000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6428160" y="2039040"/>
            <a:ext cx="1453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WinForms kliens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8321040" y="1920240"/>
            <a:ext cx="1599840" cy="914040"/>
          </a:xfrm>
          <a:prstGeom prst="roundRect">
            <a:avLst>
              <a:gd name="adj" fmla="val 8000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8394120" y="2039040"/>
            <a:ext cx="1453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REST API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/api/products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7315200" y="3657600"/>
            <a:ext cx="1874160" cy="914040"/>
          </a:xfrm>
          <a:prstGeom prst="roundRect">
            <a:avLst>
              <a:gd name="adj" fmla="val 8000"/>
            </a:avLst>
          </a:prstGeom>
          <a:solidFill>
            <a:srgbClr val="211B3D"/>
          </a:solidFill>
          <a:ln w="13970">
            <a:solidFill>
              <a:srgbClr val="A78BFA"/>
            </a:solidFill>
            <a:round/>
          </a:ln>
          <a:effectLst>
            <a:outerShdw algn="bl" blurRad="19080" dir="2700000" dist="12218" rotWithShape="0">
              <a:srgbClr val="000000">
                <a:alpha val="2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7388280" y="3776400"/>
            <a:ext cx="1728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Laravel backend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Policy + validáció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7955280" y="2377440"/>
            <a:ext cx="365760" cy="3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9098280" y="2834640"/>
            <a:ext cx="360" cy="822960"/>
          </a:xfrm>
          <a:prstGeom prst="line">
            <a:avLst/>
          </a:prstGeom>
          <a:ln w="22860">
            <a:solidFill>
              <a:srgbClr val="FBBF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9/12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/mnt/data/wide_clean_3d_illustrated_concept_scene_about_cyb_batch_3.png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0"/>
          <p:cNvSpPr/>
          <p:nvPr/>
        </p:nvSpPr>
        <p:spPr>
          <a:xfrm>
            <a:off x="9000" y="9000"/>
            <a:ext cx="12173040" cy="6839280"/>
          </a:xfrm>
          <a:prstGeom prst="rect">
            <a:avLst/>
          </a:prstGeom>
          <a:solidFill>
            <a:srgbClr val="0B0B1A">
              <a:alpha val="68000"/>
            </a:srgbClr>
          </a:solidFill>
          <a:ln w="12700">
            <a:solidFill>
              <a:srgbClr val="0B0B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Biztonság és tesztelés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645480" y="89964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621720" y="1371600"/>
            <a:ext cx="4937400" cy="452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896040" y="166428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Biztonsági megoldások</a:t>
            </a:r>
            <a:endParaRPr lang="hu-H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896040" y="2094120"/>
            <a:ext cx="4251600" cy="31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190" b="0" u="none" strike="noStrike">
                <a:solidFill>
                  <a:srgbClr val="241B3F"/>
                </a:solidFill>
                <a:effectLst/>
                <a:uFillTx/>
                <a:latin typeface="Aptos"/>
              </a:rPr>
              <a:t>• </a:t>
            </a:r>
            <a:r>
              <a:rPr lang="en-US" sz="1600" b="0" u="none" strike="noStrike">
                <a:solidFill>
                  <a:srgbClr val="241B3F"/>
                </a:solidFill>
                <a:effectLst/>
                <a:uFillTx/>
                <a:latin typeface="Aptos"/>
              </a:rPr>
              <a:t>bcrypt jelszóhash és belépéskori session-regenerálás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241B3F"/>
                </a:solidFill>
                <a:effectLst/>
                <a:uFillTx/>
                <a:latin typeface="Aptos"/>
              </a:rPr>
              <a:t>• CSRF védelem webes módosító útvonalakon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241B3F"/>
                </a:solidFill>
                <a:effectLst/>
                <a:uFillTx/>
                <a:latin typeface="Aptos"/>
              </a:rPr>
              <a:t>• Sanctum Bearer-token az API réteghez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241B3F"/>
                </a:solidFill>
                <a:effectLst/>
                <a:uFillTx/>
                <a:latin typeface="Aptos"/>
              </a:rPr>
              <a:t>• ProductPolicy: admin CRUD csak role=1 esetén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rgbClr val="241B3F"/>
                </a:solidFill>
                <a:effectLst/>
                <a:uFillTx/>
                <a:latin typeface="Aptos"/>
              </a:rPr>
              <a:t>• képfeltöltés validálása típus és méret szerint</a:t>
            </a:r>
            <a:endParaRPr lang="hu-H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6492240" y="1874520"/>
            <a:ext cx="3794400" cy="1508400"/>
          </a:xfrm>
          <a:prstGeom prst="roundRect">
            <a:avLst>
              <a:gd name="adj" fmla="val 6061"/>
            </a:avLst>
          </a:prstGeom>
          <a:solidFill>
            <a:srgbClr val="0B0B1A">
              <a:alpha val="95000"/>
            </a:srgbClr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6720840" y="2057400"/>
            <a:ext cx="1234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24/24</a:t>
            </a:r>
            <a:endParaRPr lang="hu-HU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8046720" y="22586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teszt sikeres a v1.1 futtatásban</a:t>
            </a:r>
            <a:endParaRPr lang="hu-H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6720840" y="288036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Feature + Unit tesztek, in-memory SQLite, RefreshDatabase, PHPUnit.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10/12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age 0" descr="/mnt/data/a_clean_vector_illustration_style_tech_office_scen_batch_4.png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Shape 0"/>
          <p:cNvSpPr/>
          <p:nvPr/>
        </p:nvSpPr>
        <p:spPr>
          <a:xfrm>
            <a:off x="9000" y="9000"/>
            <a:ext cx="12173040" cy="6839280"/>
          </a:xfrm>
          <a:prstGeom prst="rect">
            <a:avLst/>
          </a:prstGeom>
          <a:solidFill>
            <a:srgbClr val="0B0B1A">
              <a:alpha val="54000"/>
            </a:srgbClr>
          </a:solidFill>
          <a:ln w="12700">
            <a:solidFill>
              <a:srgbClr val="0B0B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594360" y="347400"/>
            <a:ext cx="7954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u-HU" sz="30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Csapatmunka és munkamegosztás</a:t>
            </a:r>
            <a:endParaRPr lang="hu-H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621720" y="831960"/>
            <a:ext cx="7131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u-HU" sz="105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A projekt közös fejlesztésben készült, egymást kiegészítő felelősségi körökkel.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621720" y="1078920"/>
            <a:ext cx="1874520" cy="360"/>
          </a:xfrm>
          <a:prstGeom prst="line">
            <a:avLst/>
          </a:prstGeom>
          <a:ln w="2794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685800" y="1874520"/>
            <a:ext cx="3337200" cy="3245760"/>
          </a:xfrm>
          <a:prstGeom prst="roundRect">
            <a:avLst>
              <a:gd name="adj" fmla="val 3380"/>
            </a:avLst>
          </a:prstGeom>
          <a:solidFill>
            <a:srgbClr val="0B0B1A">
              <a:alpha val="92000"/>
            </a:srgbClr>
          </a:solidFill>
          <a:ln w="11430">
            <a:solidFill>
              <a:srgbClr val="A78BFA"/>
            </a:solidFill>
            <a:round/>
          </a:ln>
          <a:effectLst>
            <a:outerShdw algn="bl" blurRad="19080" dir="2700000" dist="1120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887040" y="213048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Harkó Dávid</a:t>
            </a:r>
            <a:endParaRPr lang="hu-H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941760" y="26517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Backend · REST API · admin app</a:t>
            </a:r>
            <a:endParaRPr lang="hu-HU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1005840" y="333756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Modellek, migrációk, ProductPolicy,</a:t>
            </a:r>
            <a:endParaRPr lang="hu-HU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API-Controllor,Sanctum, ADMIN PANEL</a:t>
            </a:r>
            <a:endParaRPr lang="hu-HU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8"/>
          <p:cNvSpPr/>
          <p:nvPr/>
        </p:nvSpPr>
        <p:spPr>
          <a:xfrm>
            <a:off x="4480560" y="1874520"/>
            <a:ext cx="3337200" cy="3245760"/>
          </a:xfrm>
          <a:prstGeom prst="roundRect">
            <a:avLst>
              <a:gd name="adj" fmla="val 3380"/>
            </a:avLst>
          </a:prstGeom>
          <a:solidFill>
            <a:srgbClr val="0B0B1A">
              <a:alpha val="92000"/>
            </a:srgbClr>
          </a:solidFill>
          <a:ln w="11430">
            <a:solidFill>
              <a:srgbClr val="A78BFA"/>
            </a:solidFill>
            <a:round/>
          </a:ln>
          <a:effectLst>
            <a:outerShdw algn="bl" blurRad="19080" dir="2700000" dist="1120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9"/>
          <p:cNvSpPr/>
          <p:nvPr/>
        </p:nvSpPr>
        <p:spPr>
          <a:xfrm>
            <a:off x="4681800" y="213048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Zakar Levente Gusztáv</a:t>
            </a:r>
            <a:endParaRPr lang="hu-H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4736520" y="26517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Frontend · UI · reszponzivitás</a:t>
            </a:r>
            <a:endParaRPr lang="hu-HU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1"/>
          <p:cNvSpPr/>
          <p:nvPr/>
        </p:nvSpPr>
        <p:spPr>
          <a:xfrm>
            <a:off x="4800600" y="333756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Blade nézetek, CSS, JS, képek</a:t>
            </a:r>
            <a:endParaRPr lang="hu-HU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2"/>
          <p:cNvSpPr/>
          <p:nvPr/>
        </p:nvSpPr>
        <p:spPr>
          <a:xfrm>
            <a:off x="8275320" y="1874520"/>
            <a:ext cx="3337200" cy="3245760"/>
          </a:xfrm>
          <a:prstGeom prst="roundRect">
            <a:avLst>
              <a:gd name="adj" fmla="val 3380"/>
            </a:avLst>
          </a:prstGeom>
          <a:solidFill>
            <a:srgbClr val="0B0B1A">
              <a:alpha val="92000"/>
            </a:srgbClr>
          </a:solidFill>
          <a:ln w="11430">
            <a:solidFill>
              <a:srgbClr val="A78BFA"/>
            </a:solidFill>
            <a:round/>
          </a:ln>
          <a:effectLst>
            <a:outerShdw algn="bl" blurRad="19080" dir="2700000" dist="1120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3"/>
          <p:cNvSpPr/>
          <p:nvPr/>
        </p:nvSpPr>
        <p:spPr>
          <a:xfrm>
            <a:off x="8476560" y="213048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Iancu‑Tóth Daniel</a:t>
            </a:r>
            <a:endParaRPr lang="hu-H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4"/>
          <p:cNvSpPr/>
          <p:nvPr/>
        </p:nvSpPr>
        <p:spPr>
          <a:xfrm>
            <a:off x="8531280" y="26517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Controller kiegészitések  Tesztelés · design system</a:t>
            </a:r>
            <a:endParaRPr lang="hu-HU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5"/>
          <p:cNvSpPr/>
          <p:nvPr/>
        </p:nvSpPr>
        <p:spPr>
          <a:xfrm>
            <a:off x="8595360" y="3337560"/>
            <a:ext cx="2697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C7C4DA"/>
                </a:solidFill>
                <a:effectLst/>
                <a:uFillTx/>
                <a:latin typeface="Aptos"/>
              </a:rPr>
              <a:t>Controller, CSS-változók, Material Icons, tesztek, dokumentáció</a:t>
            </a:r>
            <a:endParaRPr lang="hu-HU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11/12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5"/>
          <p:cNvSpPr/>
          <p:nvPr/>
        </p:nvSpPr>
        <p:spPr>
          <a:xfrm>
            <a:off x="1081800" y="1080000"/>
            <a:ext cx="10258200" cy="3765960"/>
          </a:xfrm>
          <a:prstGeom prst="roundRect">
            <a:avLst>
              <a:gd name="adj" fmla="val 3380"/>
            </a:avLst>
          </a:prstGeom>
          <a:solidFill>
            <a:srgbClr val="211B3D"/>
          </a:solidFill>
          <a:ln w="12700">
            <a:solidFill>
              <a:srgbClr val="A78BFA"/>
            </a:solidFill>
            <a:round/>
          </a:ln>
          <a:effectLst>
            <a:outerShdw algn="bl" blurRad="17640" dir="2700000" dist="9673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3283920" y="1674360"/>
            <a:ext cx="612000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BBF24"/>
                </a:solidFill>
                <a:effectLst/>
                <a:uFillTx/>
                <a:latin typeface="Aptos"/>
              </a:rPr>
              <a:t>English abstract</a:t>
            </a:r>
            <a:endParaRPr lang="hu-H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1800000" y="2340000"/>
            <a:ext cx="9218160" cy="18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DD6FE"/>
                </a:solidFill>
                <a:effectLst/>
                <a:uFillTx/>
                <a:latin typeface="Aptos"/>
              </a:rPr>
              <a:t>TechShop is a Laravel 12 based electronics e-commerce application. It provides product browsing, filtering, a session-based cart, checkout, order history, admin product management, and a REST API secured with Sanctum. The responsive web frontend works on desktop and mobile, while the Windows Forms admin client demonstrates native desktop integration.</a:t>
            </a:r>
            <a:endParaRPr lang="hu-H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9921240" y="647388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B96BA"/>
                </a:solidFill>
                <a:effectLst/>
                <a:uFillTx/>
                <a:latin typeface="Aptos"/>
              </a:rPr>
              <a:t>TechShop vizsgaremek · 12/12</a:t>
            </a:r>
            <a:endParaRPr lang="hu-HU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LibreOffice/26.2.3.2$Windows_X86_64 LibreOffice_project/70e089b17412e4cb7773e41413306b17a2328c34</Application>
  <AppVersion>15.0000</AppVersion>
  <Words>0</Words>
  <Paragraphs>0</Paragraphs>
  <Company>TechShop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2026-04-26T15:01:22Z</dcterms:created>
  <dc:creator>OpenAI</dc:creator>
  <dc:description/>
  <dc:language>hu-HU</dc:language>
  <cp:lastModifiedBy/>
  <dcterms:modified xsi:type="dcterms:W3CDTF">2026-05-10T20:46:42Z</dcterms:modified>
  <cp:revision>14</cp:revision>
  <dc:subject>TechShop vizsgaremek prezentáció</dc:subject>
  <dc:title>TechShop – Vizsgaremek prezentáció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